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B3E6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212080"/>
            <a:ext cx="2194560" cy="2194560"/>
          </a:xfrm>
          <a:prstGeom prst="ellipse">
            <a:avLst/>
          </a:prstGeom>
          <a:solidFill>
            <a:srgbClr val="1E8F82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Risk Analytics &amp; Interactive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B3E6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12394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47640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3977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B3E6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38144" y="412394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38144" y="47640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3977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B3E6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3328" y="412394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53328" y="47640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observations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68512" y="3977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B3E6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68512" y="412394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32K+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668512" y="47640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EEF3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5" name="Image 0" descr="icons/exclama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Mutual-fund data is fragmented across NAV, AUM, SIP, investor and portfolio sources.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NAV data requires transformation before meaningful risk-adjusted comparisons.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and portfolio concentration are difficult to assess from isolated datasets.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828800"/>
            <a:ext cx="566928" cy="566928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0" name="Image 1" descr="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19762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288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29400" y="26517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ETL pipeline and validated analytical datasets.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relational SQLite data layer and analytical queries.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EDA, performance/risk analysis and benchmark comparison.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 and advanced analytics.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 sources + project datasets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12064" cy="512064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198936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9631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AMFI India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25496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folio and SIP industry information.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1856232"/>
            <a:ext cx="512064" cy="512064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1" name="Image 1" descr="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849" y="198936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9631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mfapi.in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825496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API used for selected scheme data.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1856232"/>
            <a:ext cx="512064" cy="512064"/>
          </a:xfrm>
          <a:prstGeom prst="ellipse">
            <a:avLst/>
          </a:prstGeom>
          <a:solidFill>
            <a:srgbClr val="C68A1F"/>
          </a:solidFill>
          <a:ln/>
        </p:spPr>
      </p:sp>
      <p:pic>
        <p:nvPicPr>
          <p:cNvPr id="16" name="Image 2" descr="icons/chartp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889" y="198936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49631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/ BSE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825496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— benchmark index prices.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11018520" cy="2331720"/>
          </a:xfrm>
          <a:prstGeom prst="roundRect">
            <a:avLst>
              <a:gd name="adj" fmla="val 3137"/>
            </a:avLst>
          </a:prstGeom>
          <a:solidFill>
            <a:srgbClr val="0F2B46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analytical datasets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68680" y="4224528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master, NAV history, AUM, SIP inflows, category inflows, folios, performance, transactions, holdings and benchmarks.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68680" y="48920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68680" y="53492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463290" y="48920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~46,000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3463290" y="53492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observations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057900" y="48920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~32,778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6057900" y="53492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652510" y="48920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~322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8652510" y="534924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 records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993392" cy="3383280"/>
          </a:xfrm>
          <a:prstGeom prst="roundRect">
            <a:avLst>
              <a:gd name="adj" fmla="val 4128"/>
            </a:avLst>
          </a:prstGeom>
          <a:solidFill>
            <a:srgbClr val="EEF3F8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2240280"/>
            <a:ext cx="822960" cy="822960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5" name="Image 0" descr="icons/down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4414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91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/ NSE / BSE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42032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24912" y="1920240"/>
            <a:ext cx="1993392" cy="3383280"/>
          </a:xfrm>
          <a:prstGeom prst="roundRect">
            <a:avLst>
              <a:gd name="adj" fmla="val 4128"/>
            </a:avLst>
          </a:prstGeom>
          <a:solidFill>
            <a:srgbClr val="EE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2240280"/>
            <a:ext cx="822960" cy="822960"/>
          </a:xfrm>
          <a:prstGeom prst="ellipse">
            <a:avLst/>
          </a:prstGeom>
          <a:solidFill>
            <a:srgbClr val="17405F"/>
          </a:solidFill>
          <a:ln/>
        </p:spPr>
      </p:sp>
      <p:pic>
        <p:nvPicPr>
          <p:cNvPr id="12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4414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1538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724912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862072" y="37033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18304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901184" y="1920240"/>
            <a:ext cx="1993392" cy="3383280"/>
          </a:xfrm>
          <a:prstGeom prst="roundRect">
            <a:avLst>
              <a:gd name="adj" fmla="val 4128"/>
            </a:avLst>
          </a:prstGeom>
          <a:solidFill>
            <a:srgbClr val="EEF3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0" y="2240280"/>
            <a:ext cx="822960" cy="82296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9" name="Image 2" descr="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244144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901184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038344" y="37033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894576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7077456" y="1920240"/>
            <a:ext cx="1993392" cy="3383280"/>
          </a:xfrm>
          <a:prstGeom prst="roundRect">
            <a:avLst>
              <a:gd name="adj" fmla="val 4128"/>
            </a:avLst>
          </a:prstGeom>
          <a:solidFill>
            <a:srgbClr val="EEF3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662672" y="2240280"/>
            <a:ext cx="822960" cy="822960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26" name="Image 3" descr="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44144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6792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077456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14616" y="37033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070848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9253728" y="1920240"/>
            <a:ext cx="1993392" cy="3383280"/>
          </a:xfrm>
          <a:prstGeom prst="roundRect">
            <a:avLst>
              <a:gd name="adj" fmla="val 4128"/>
            </a:avLst>
          </a:prstGeom>
          <a:solidFill>
            <a:srgbClr val="EEF3F8"/>
          </a:solidFill>
          <a:ln/>
        </p:spPr>
      </p:sp>
      <p:sp>
        <p:nvSpPr>
          <p:cNvPr id="32" name="Shape 26"/>
          <p:cNvSpPr/>
          <p:nvPr/>
        </p:nvSpPr>
        <p:spPr>
          <a:xfrm>
            <a:off x="9838944" y="2240280"/>
            <a:ext cx="822960" cy="822960"/>
          </a:xfrm>
          <a:prstGeom prst="ellipse">
            <a:avLst/>
          </a:prstGeom>
          <a:solidFill>
            <a:srgbClr val="C68A1F"/>
          </a:solidFill>
          <a:ln/>
        </p:spPr>
      </p:sp>
      <p:pic>
        <p:nvPicPr>
          <p:cNvPr id="33" name="Image 4" descr="icons/chartpi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2" y="2441448"/>
            <a:ext cx="420624" cy="4206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7442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9253728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9390888" y="37033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exploratory views produced in the EDA notebook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431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8F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43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09928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analysis across all 40 schemes from 2022–2026.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E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19431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B46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943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709928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by fund house from 2022–2025.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E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1775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8F82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77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44368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trend from January 2022 to December 2025.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E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7648" y="31775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B46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177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 heatmap and FY25 category comparison.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E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4119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8F82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411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178808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age, gender, geography and transaction-type analysis.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406908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E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7648" y="44119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B46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4411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178808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growth, return-correlation matrix and sector allocation analysis.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0927080" cy="548640"/>
          </a:xfrm>
          <a:prstGeom prst="roundRect">
            <a:avLst>
              <a:gd name="adj" fmla="val 11667"/>
            </a:avLst>
          </a:prstGeom>
          <a:solidFill>
            <a:srgbClr val="C68A1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349240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 publication-quality visualisations were created.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fund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1623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6" name="Image 0" descr="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/ 3Y / 5Y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947672"/>
            <a:ext cx="566928" cy="566928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1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13" y="20950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3017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6.5%, √252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1623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47672"/>
            <a:ext cx="566928" cy="566928"/>
          </a:xfrm>
          <a:prstGeom prst="ellipse">
            <a:avLst/>
          </a:prstGeom>
          <a:solidFill>
            <a:srgbClr val="C68A1F"/>
          </a:solidFill>
          <a:ln/>
        </p:spPr>
      </p:sp>
      <p:pic>
        <p:nvPicPr>
          <p:cNvPr id="16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153" y="209507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02752" y="3017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deviation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1623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17405F"/>
          </a:solidFill>
          <a:ln/>
        </p:spPr>
      </p:sp>
      <p:pic>
        <p:nvPicPr>
          <p:cNvPr id="21" name="Image 3" descr="icons/proje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3353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920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/ Beta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2578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vs Nifty 100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1623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187952"/>
            <a:ext cx="566928" cy="566928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26" name="Image 4" descr="icons/arrowdow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113" y="433535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920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Drawdown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52578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Peak-to-trough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1623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187952"/>
            <a:ext cx="566928" cy="566928"/>
          </a:xfrm>
          <a:prstGeom prst="ellipse">
            <a:avLst/>
          </a:prstGeom>
          <a:solidFill>
            <a:srgbClr val="A9760F"/>
          </a:solidFill>
          <a:ln/>
        </p:spPr>
      </p:sp>
      <p:pic>
        <p:nvPicPr>
          <p:cNvPr id="31" name="Image 5" descr="icons/crosshai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153" y="433535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8920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Error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02752" y="52578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deviation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and benchmark comparison outputs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7434072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148567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Direct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C68A1F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502005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troph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1206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892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analysis also produced tracking-error measures against Nifty 50 and Nifty 100 for the selected top funds.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required report pages + fund-detail drill-through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6" name="Image 0" descr="icons/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3774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trend • Fund-house AUM • KPI cards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48840"/>
            <a:ext cx="640080" cy="64008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1" name="Image 1" descr="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23152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23760" y="23774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• Return vs Sharpe • Slicers • NAV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C68A1F"/>
          </a:solidFill>
          <a:ln/>
        </p:spPr>
      </p:sp>
      <p:pic>
        <p:nvPicPr>
          <p:cNvPr id="16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281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404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343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• Transaction type • Age • Monthly volume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566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17405F"/>
          </a:solidFill>
          <a:ln/>
        </p:spPr>
      </p:sp>
      <p:pic>
        <p:nvPicPr>
          <p:cNvPr id="21" name="Image 3" descr="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2812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8404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&amp; Market Trends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23760" y="4343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• Nifty 50 • Category heatmap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57784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Detail provides drill-through NAV history for a selected scheme.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 &amp; Risk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3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5" name="Image 0" descr="icons/exclamation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0219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Portfolio Risk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(95%) = 5th percentile of daily returns.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= mean of returns below the VaR threshold.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calculated and plotted for five key funds.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 calculated for 34 equity funds.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874520"/>
            <a:ext cx="566928" cy="566928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0" name="Image 1" descr="icons/userfriend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20219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74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269748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grouped by first transaction year.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SIP amount and total invested computed by cohort.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with 6+ SIP transactions analysed for average date gaps.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&gt;35 days flagged as at-risk.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&amp; Advanced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0F2B4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73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Cohort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SIP: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₹10,996.89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₹225.81 crore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SIP preference: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Bluechip Fund - Direct - Growth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8F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73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Cohort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0391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SIP: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₹13,505.21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₹1.90 crore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SIP preference: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Fund - Direct Plan - Growth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0927080" cy="2286000"/>
          </a:xfrm>
          <a:prstGeom prst="roundRect">
            <a:avLst>
              <a:gd name="adj" fmla="val 3200"/>
            </a:avLst>
          </a:prstGeom>
          <a:solidFill>
            <a:srgbClr val="EE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31920"/>
            <a:ext cx="10287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1,362 investors met the 6+ SIP eligibility rule; 1,332 were flagged at-risk under the &gt;35-day average-gap rule.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equity funds were included in sector HHI concentration analysis.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recommender ranks the top three funds by Sharpe ratio within the selected Low, Moderate or High risk category.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Screenshots &amp; Usage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Power BI file contains the visual pages shown in the project submission package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E2EAF3"/>
            </a:solidFill>
            <a:prstDash val="solid"/>
          </a:ln>
          <a:effectLst>
            <a:outerShdw sx="100000" sy="100000" kx="0" ky="0" algn="bl" rotWithShape="0" blurRad="76200" dist="25400" dir="5400000">
              <a:srgbClr val="1623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349240" cy="20116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74520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874520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1874520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7373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57500" y="2423160"/>
            <a:ext cx="731520" cy="731520"/>
          </a:xfrm>
          <a:prstGeom prst="ellipse">
            <a:avLst/>
          </a:prstGeom>
          <a:solidFill>
            <a:srgbClr val="EEF3F8"/>
          </a:solidFill>
          <a:ln/>
        </p:spPr>
      </p:sp>
      <p:pic>
        <p:nvPicPr>
          <p:cNvPr id="12" name="Image 0" descr="icons/industr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26060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154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trend • Fund-house AUM • KPI cards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17373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E2EAF3"/>
            </a:solidFill>
            <a:prstDash val="solid"/>
          </a:ln>
          <a:effectLst>
            <a:outerShdw sx="100000" sy="100000" kx="0" ky="0" algn="bl" rotWithShape="0" blurRad="76200" dist="25400" dir="5400000">
              <a:srgbClr val="16233A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173736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6480" y="1920240"/>
            <a:ext cx="5349240" cy="20116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1874520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5"/>
          <p:cNvSpPr/>
          <p:nvPr/>
        </p:nvSpPr>
        <p:spPr>
          <a:xfrm>
            <a:off x="6464808" y="1874520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6"/>
          <p:cNvSpPr/>
          <p:nvPr/>
        </p:nvSpPr>
        <p:spPr>
          <a:xfrm>
            <a:off x="6665976" y="1874520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0" y="17373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435340" y="2423160"/>
            <a:ext cx="731520" cy="731520"/>
          </a:xfrm>
          <a:prstGeom prst="ellipse">
            <a:avLst/>
          </a:prstGeom>
          <a:solidFill>
            <a:srgbClr val="EEF3F8"/>
          </a:solidFill>
          <a:ln/>
        </p:spPr>
      </p:sp>
      <p:pic>
        <p:nvPicPr>
          <p:cNvPr id="22" name="Image 1" descr="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0" y="260604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00800" y="3154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• Return vs Sharpe • Slicers • NAV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E2EAF3"/>
            </a:solidFill>
            <a:prstDash val="solid"/>
          </a:ln>
          <a:effectLst>
            <a:outerShdw sx="100000" sy="100000" kx="0" ky="0" algn="bl" rotWithShape="0" blurRad="76200" dist="25400" dir="5400000">
              <a:srgbClr val="16233A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48640" y="39319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/>
        </p:spPr>
      </p:sp>
      <p:sp>
        <p:nvSpPr>
          <p:cNvPr id="26" name="Shape 22"/>
          <p:cNvSpPr/>
          <p:nvPr/>
        </p:nvSpPr>
        <p:spPr>
          <a:xfrm>
            <a:off x="548640" y="4114800"/>
            <a:ext cx="5349240" cy="20116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7" name="Shape 23"/>
          <p:cNvSpPr/>
          <p:nvPr/>
        </p:nvSpPr>
        <p:spPr>
          <a:xfrm>
            <a:off x="685800" y="4069080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8" name="Shape 24"/>
          <p:cNvSpPr/>
          <p:nvPr/>
        </p:nvSpPr>
        <p:spPr>
          <a:xfrm>
            <a:off x="886968" y="4069080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9" name="Shape 25"/>
          <p:cNvSpPr/>
          <p:nvPr/>
        </p:nvSpPr>
        <p:spPr>
          <a:xfrm>
            <a:off x="1088136" y="4069080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0" name="Text 26"/>
          <p:cNvSpPr/>
          <p:nvPr/>
        </p:nvSpPr>
        <p:spPr>
          <a:xfrm>
            <a:off x="1371600" y="39319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2857500" y="4617720"/>
            <a:ext cx="731520" cy="731520"/>
          </a:xfrm>
          <a:prstGeom prst="ellipse">
            <a:avLst/>
          </a:prstGeom>
          <a:solidFill>
            <a:srgbClr val="EEF3F8"/>
          </a:solidFill>
          <a:ln/>
        </p:spPr>
      </p:sp>
      <p:pic>
        <p:nvPicPr>
          <p:cNvPr id="32" name="Image 2" descr="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480060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2296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• Transaction type • Age • Monthly volume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26480" y="39319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E2EAF3"/>
            </a:solidFill>
            <a:prstDash val="solid"/>
          </a:ln>
          <a:effectLst>
            <a:outerShdw sx="100000" sy="100000" kx="0" ky="0" algn="bl" rotWithShape="0" blurRad="76200" dist="25400" dir="5400000">
              <a:srgbClr val="16233A">
                <a:alpha val="1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126480" y="39319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/>
        </p:spPr>
      </p:sp>
      <p:sp>
        <p:nvSpPr>
          <p:cNvPr id="36" name="Shape 31"/>
          <p:cNvSpPr/>
          <p:nvPr/>
        </p:nvSpPr>
        <p:spPr>
          <a:xfrm>
            <a:off x="6126480" y="4114800"/>
            <a:ext cx="5349240" cy="20116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7" name="Shape 32"/>
          <p:cNvSpPr/>
          <p:nvPr/>
        </p:nvSpPr>
        <p:spPr>
          <a:xfrm>
            <a:off x="6263640" y="4069080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8" name="Shape 33"/>
          <p:cNvSpPr/>
          <p:nvPr/>
        </p:nvSpPr>
        <p:spPr>
          <a:xfrm>
            <a:off x="6464808" y="4069080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9" name="Shape 34"/>
          <p:cNvSpPr/>
          <p:nvPr/>
        </p:nvSpPr>
        <p:spPr>
          <a:xfrm>
            <a:off x="6665976" y="4069080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40" name="Text 35"/>
          <p:cNvSpPr/>
          <p:nvPr/>
        </p:nvSpPr>
        <p:spPr>
          <a:xfrm>
            <a:off x="6949440" y="39319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8435340" y="4617720"/>
            <a:ext cx="731520" cy="731520"/>
          </a:xfrm>
          <a:prstGeom prst="ellipse">
            <a:avLst/>
          </a:prstGeom>
          <a:solidFill>
            <a:srgbClr val="EEF3F8"/>
          </a:solidFill>
          <a:ln/>
        </p:spPr>
      </p:sp>
      <p:pic>
        <p:nvPicPr>
          <p:cNvPr id="42" name="Image 3" descr="icons/calend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220" y="4800600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40080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• Nifty 50 • Category heatmap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48640" y="617220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Detail provides drill-through NAV history for a selected scheme.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1B3E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5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624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was built from ingestion through analytics and BI visualisation.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039112"/>
            <a:ext cx="365760" cy="36576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8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1226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complement return analysis and enable consistent fund comparison.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65760" cy="36576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1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3405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06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cohorts and SIP continuity provide behavioural segmentation.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282696"/>
            <a:ext cx="365760" cy="36576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4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5584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2278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 adds a concentration-risk perspective to equity portfolios.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3904488"/>
            <a:ext cx="365760" cy="365760"/>
          </a:xfrm>
          <a:prstGeom prst="ellipse">
            <a:avLst/>
          </a:prstGeom>
          <a:solidFill>
            <a:srgbClr val="1E8F82"/>
          </a:solidFill>
          <a:ln/>
        </p:spPr>
      </p:sp>
      <p:pic>
        <p:nvPicPr>
          <p:cNvPr id="17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977640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delivers the required analytical notebooks, CSV reports, recommender, chart and Power BI dashboard.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40080" y="5349240"/>
            <a:ext cx="10881360" cy="0"/>
          </a:xfrm>
          <a:prstGeom prst="line">
            <a:avLst/>
          </a:prstGeom>
          <a:noFill/>
          <a:ln w="19050">
            <a:solidFill>
              <a:srgbClr val="1B3E6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2026-09-16T20:51:01Z</dcterms:created>
  <dcterms:modified xsi:type="dcterms:W3CDTF">2026-09-16T20:51:01Z</dcterms:modified>
</cp:coreProperties>
</file>